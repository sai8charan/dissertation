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55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3550"/>
                </a:solidFill>
                <a:latin typeface="Arial"/>
              </a:rPr>
              <a:t>ROUGE-2 by System (pilot)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ROUGE-2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35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Lead-3</c:v>
                  </c:pt>
                  <c:pt idx="1">
                    <c:v>TextRank</c:v>
                  </c:pt>
                  <c:pt idx="2">
                    <c:v>BART
zero-shot</c:v>
                  </c:pt>
                  <c:pt idx="3">
                    <c:v>BART
fine-tuned</c:v>
                  </c:pt>
                  <c:pt idx="4">
                    <c:v>Pipeline
(proposed)</c:v>
                  </c:pt>
                  <c:pt idx="5">
                    <c:v>PEGASUS
zero-shot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23.47</c:v>
                </c:pt>
                <c:pt idx="1">
                  <c:v>12.28</c:v>
                </c:pt>
                <c:pt idx="2">
                  <c:v>21.21</c:v>
                </c:pt>
                <c:pt idx="3">
                  <c:v>26.62</c:v>
                </c:pt>
                <c:pt idx="4">
                  <c:v>10.1</c:v>
                </c:pt>
                <c:pt idx="5">
                  <c:v>14.74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B35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822960"/>
            <a:ext cx="2377440" cy="237744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1280160"/>
            <a:ext cx="2377440" cy="2377440"/>
          </a:xfrm>
          <a:prstGeom prst="ellipse">
            <a:avLst/>
          </a:prstGeom>
          <a:solidFill>
            <a:srgbClr val="5FA8C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822960"/>
            <a:ext cx="2377440" cy="2377440"/>
          </a:xfrm>
          <a:prstGeom prst="ellipse">
            <a:avLst/>
          </a:prstGeom>
          <a:solidFill>
            <a:srgbClr val="E8871E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469880" y="1280160"/>
            <a:ext cx="2377440" cy="2377440"/>
          </a:xfrm>
          <a:prstGeom prst="ellipse">
            <a:avLst/>
          </a:prstGeom>
          <a:solidFill>
            <a:srgbClr val="8FD3C7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AIMLCZG628T  ·  DISSERTATION  ·  MID-SEMESTER VIVA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Two-Stage Summarisation Pipeline for News Articles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Extraction-Guided Abstractive Generation with a Difficulty-Aware Safety Switch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3977640"/>
            <a:ext cx="3840480" cy="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251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68880" y="4251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Puthineedi Venkata Sai Charan   |   2024AA05606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636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68880" y="4636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in Artificial Intelligence &amp; Machine Learning, BITS Pilani WILP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020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68880" y="502005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Veeraswamy Ponnuru — Lead QA Engineer, Opentext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55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08760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691640" y="1508760"/>
            <a:ext cx="3977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508760" y="1979676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688336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55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688336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691640" y="2688336"/>
            <a:ext cx="3977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Research Gap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508760" y="3159252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867912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55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867912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691640" y="3867912"/>
            <a:ext cx="3977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 — 4-Stage Pipeline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508760" y="4338828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5047488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55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047488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691640" y="5047488"/>
            <a:ext cx="3977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— Difficulty-Aware Safety Switch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1508760" y="5518404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1508760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55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1508760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7360920" y="1508760"/>
            <a:ext cx="3977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Experimental Setup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178040" y="1979676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2688336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55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46520" y="2688336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7360920" y="2688336"/>
            <a:ext cx="3977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Status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7178040" y="3159252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0" y="3867912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55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46520" y="3867912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500" dirty="0"/>
          </a:p>
        </p:txBody>
      </p:sp>
      <p:sp>
        <p:nvSpPr>
          <p:cNvPr id="30" name="Text 28"/>
          <p:cNvSpPr/>
          <p:nvPr/>
        </p:nvSpPr>
        <p:spPr>
          <a:xfrm>
            <a:off x="7360920" y="3867912"/>
            <a:ext cx="3977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7178040" y="4338828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32" name="Shape 30"/>
          <p:cNvSpPr/>
          <p:nvPr/>
        </p:nvSpPr>
        <p:spPr>
          <a:xfrm>
            <a:off x="6217920" y="5047488"/>
            <a:ext cx="5349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55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46520" y="5047488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7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500" dirty="0"/>
          </a:p>
        </p:txBody>
      </p:sp>
      <p:sp>
        <p:nvSpPr>
          <p:cNvPr id="34" name="Text 32"/>
          <p:cNvSpPr/>
          <p:nvPr/>
        </p:nvSpPr>
        <p:spPr>
          <a:xfrm>
            <a:off x="7360920" y="5047488"/>
            <a:ext cx="3977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Risks &amp; Future Plan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7178040" y="5518404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Mid-Semester Viva — Agenda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summarisation has two dominant paradigms, each with a critical shortcoming — and modern pretrained transformers inherit both a truncation problem and a verification gap.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55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82296" cy="1600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sentences verbatim. Factually safe, but disjointed — can't paraphrase or compress across sentences.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92024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55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1920240"/>
            <a:ext cx="82296" cy="160020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057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Abstractive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4231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fluent, novel text (BART, PEGASUS). Reads naturally, but can hallucinate facts unsupported by the source.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1920240"/>
            <a:ext cx="3886200" cy="3520440"/>
          </a:xfrm>
          <a:prstGeom prst="roundRect">
            <a:avLst>
              <a:gd name="adj" fmla="val 2078"/>
            </a:avLst>
          </a:prstGeom>
          <a:solidFill>
            <a:srgbClr val="0B355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55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Gap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0" y="2423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Single-stage fine-tuned transformers (BART, PEGASUS) emit one hypothesis with: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29260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check that claims are supported by the source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confidence-based fallback when generation is risky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fixed threshold, ignoring that articles vary in difficulty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6903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55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9136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Problem Statement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42519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news article, produce a summary that is (a) fluent and abstractive, and (b) verifiably grounded in the source — with a reliability mechanism that adapts its strictness to how difficult the article is to summarise, and a guaranteed fallback when confidence is insufficient.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LITERATURE REVIEW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Work &amp; Research Gap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Extractive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TextRank (Mihalcea &amp; Tarau, 2004) — graph centrality. SummaRuNNer (Nallapati et al., 2017) — salience scoring. BertSum (Liu &amp; Lapata, 2019) — transformer extractive SOTA.</a:t>
            </a:r>
            <a:endParaRPr lang="en-US" sz="1030" dirty="0"/>
          </a:p>
        </p:txBody>
      </p:sp>
      <p:sp>
        <p:nvSpPr>
          <p:cNvPr id="6" name="Text 4"/>
          <p:cNvSpPr/>
          <p:nvPr/>
        </p:nvSpPr>
        <p:spPr>
          <a:xfrm>
            <a:off x="429768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Abstractive &amp; Pretrained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97680" y="1664208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Pointer-Generator (See et al., 2017) — copy + coverage. BART (Lewis et al., 2020) &amp; PEGASUS (Zhang et al., 2020) dominate CNN/DM but truncate input and never verify claims against source.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804672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Factuality Metrics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0" y="1664208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→ BERTScore → SummaC/NLI-FCS (Laban et al., 2022). ACL 2026 stress-test: NLI metrics remain reliable for short documents like CNN/DM — supports our Stage-3 verifier.</a:t>
            </a:r>
            <a:endParaRPr lang="en-US" sz="103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064240" cy="1965960"/>
        </p:xfrm>
        <a:graphic>
          <a:graphicData uri="http://schemas.openxmlformats.org/drawingml/2006/table">
            <a:tbl>
              <a:tblPr/>
              <a:tblGrid>
                <a:gridCol w="2651760"/>
                <a:gridCol w="2377440"/>
                <a:gridCol w="2011680"/>
                <a:gridCol w="1828800"/>
                <a:gridCol w="21945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NLI Verify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Threshold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Lead-3 / TextRank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Extractive only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 / PEGASUS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Truncation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SummaC-style eval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only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0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Dissertation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BM25+embed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 NLI FCS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F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(difficulty-aware)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prior work unifies retrieval, verification, and a guaranteed fallback — and none adapt fallback strictness to per-article difficulty.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Research Gap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PROPOSED METHODOLOGY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Four-Stage Pipeline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2130552"/>
            <a:ext cx="777240" cy="731520"/>
          </a:xfrm>
          <a:prstGeom prst="roundRect">
            <a:avLst>
              <a:gd name="adj" fmla="val 7500"/>
            </a:avLst>
          </a:prstGeom>
          <a:solidFill>
            <a:srgbClr val="0B3550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2130552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88720" y="178308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55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98548" y="152704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098548" y="1527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103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9077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pipeline/retrieval.py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47872" y="2263140"/>
            <a:ext cx="448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023360" y="178308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55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3188" y="1527048"/>
            <a:ext cx="512064" cy="512064"/>
          </a:xfrm>
          <a:prstGeom prst="ellipse">
            <a:avLst/>
          </a:prstGeom>
          <a:solidFill>
            <a:srgbClr val="5FA8C2"/>
          </a:solidFill>
          <a:ln/>
        </p:spPr>
      </p:sp>
      <p:sp>
        <p:nvSpPr>
          <p:cNvPr id="14" name="Text 12"/>
          <p:cNvSpPr/>
          <p:nvPr/>
        </p:nvSpPr>
        <p:spPr>
          <a:xfrm>
            <a:off x="4933188" y="1527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2103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0" y="29077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pipeline/generator.py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382512" y="2263140"/>
            <a:ext cx="448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858000" y="178308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55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67828" y="1527048"/>
            <a:ext cx="512064" cy="51206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0" name="Text 18"/>
          <p:cNvSpPr/>
          <p:nvPr/>
        </p:nvSpPr>
        <p:spPr>
          <a:xfrm>
            <a:off x="7767828" y="1527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2103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49440" y="29077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pipeline/verifier.py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217152" y="2263140"/>
            <a:ext cx="448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92640" y="178308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55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602468" y="1527048"/>
            <a:ext cx="512064" cy="512064"/>
          </a:xfrm>
          <a:prstGeom prst="ellipse">
            <a:avLst/>
          </a:prstGeom>
          <a:solidFill>
            <a:srgbClr val="8FBF6D"/>
          </a:solidFill>
          <a:ln/>
        </p:spPr>
      </p:sp>
      <p:sp>
        <p:nvSpPr>
          <p:cNvPr id="26" name="Text 24"/>
          <p:cNvSpPr/>
          <p:nvPr/>
        </p:nvSpPr>
        <p:spPr>
          <a:xfrm>
            <a:off x="10602468" y="1527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84080" y="2103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Preference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84080" y="29077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pipeline/reranker.py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2545568" y="2130552"/>
            <a:ext cx="868680" cy="731520"/>
          </a:xfrm>
          <a:prstGeom prst="roundRect">
            <a:avLst>
              <a:gd name="adj" fmla="val 7500"/>
            </a:avLst>
          </a:prstGeom>
          <a:solidFill>
            <a:srgbClr val="E8871E"/>
          </a:solidFill>
          <a:ln/>
        </p:spPr>
      </p:sp>
      <p:sp>
        <p:nvSpPr>
          <p:cNvPr id="30" name="Text 28"/>
          <p:cNvSpPr/>
          <p:nvPr/>
        </p:nvSpPr>
        <p:spPr>
          <a:xfrm>
            <a:off x="12545568" y="2130552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70332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5840" y="364845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0.5×BM25 + 0.5×embedding (MiniLM); top-K=8 within 512-token budget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178808"/>
            <a:ext cx="320040" cy="320040"/>
          </a:xfrm>
          <a:prstGeom prst="ellipse">
            <a:avLst/>
          </a:prstGeom>
          <a:solidFill>
            <a:srgbClr val="5FA8C2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178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05840" y="412394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BART-large-cnn; Best-of-N=5, nucleus sampling top_p=0.92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654296"/>
            <a:ext cx="320040" cy="32004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6542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05840" y="459943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DeBERTa-v3 cross-encoder; sentence-level entailment → FCS score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129784"/>
            <a:ext cx="320040" cy="320040"/>
          </a:xfrm>
          <a:prstGeom prst="ellipse">
            <a:avLst/>
          </a:prstGeom>
          <a:solidFill>
            <a:srgbClr val="8FBF6D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51297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05840" y="50749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0.6×FCS + 0.4×BERTScore; fallback if best FCS &lt; dynamic threshold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56692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0B355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55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22960" y="57790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rationale: Best-of-N reranking is a training-free, inference-time approximation of RLHF — optimising for factual consistency and fluency without a trained reward model.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NOVELTY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Difficulty-Aware Safety Switch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FCS threshold (0.40) assumes every article is equally hard to summarise. It isn't — a dense, entity-heavy article is riskier than a short, simple one. This dissertation replaces the fixed threshold with one that adapts to per-article difficulty.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2120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55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677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Difficulty Score D  ∈ [0, 1]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pipeline/difficulty.py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complexity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322783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count, normalised 150–900 words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353872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0.30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54480" y="3538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density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79476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capitalised/numeric tokens per 100 words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410565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41056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uncertainty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436168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top-2 evidence score margin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960" y="4690872"/>
            <a:ext cx="4663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823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0.4·LengthNorm + 0.3·EntityNorm + 0.3·UncertaintyNorm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2103120"/>
            <a:ext cx="5623560" cy="3246120"/>
          </a:xfrm>
          <a:prstGeom prst="roundRect">
            <a:avLst>
              <a:gd name="adj" fmla="val 2254"/>
            </a:avLst>
          </a:prstGeom>
          <a:solidFill>
            <a:srgbClr val="0B355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55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22677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Threshold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2651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 = BaseThreshold + α × 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3154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BaseThreshold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509760" y="3154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09360" y="3520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(alpha)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509760" y="3520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09360" y="3886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threshold cap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509760" y="3886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309360" y="44348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article → threshold ≈ 0.40 (normal abstractive behaviour). Hard article → threshold up to 0.60 (stricter — more likely to fall back to the safe extractive summary).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5074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accept abstractive summary if best-candidate FCS ≥ Threshold_dynamic, else extractive fallback.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fully implemented and wired into Stage 4 (pipeline/pipeline.py → reranker.py). Pilot runs show mean difficulty ≈ 0.78 and mean dynamic threshold ≈ 0.555 across ablation samples — full-scale calibration (α sweep, difficulty-bin analysis) is in progress.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— Difficulty-Aware Safety Switch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DATA &amp; SETUP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Experimental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291840" cy="4023360"/>
          </a:xfrm>
          <a:prstGeom prst="roundRect">
            <a:avLst>
              <a:gd name="adj" fmla="val 2222"/>
            </a:avLst>
          </a:prstGeom>
          <a:solidFill>
            <a:srgbClr val="0B355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55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3619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CNN/DailyMail 3.0.0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A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abisee/cnn_dailymail (HF)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287,113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articles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299923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13,368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articles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371246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11,490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articles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" y="45720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7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(CNN)/byline removal, sentence tokenisation, seed-42 subsample (20,000 train), cached to data/cache/.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 Compared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691640"/>
          <a:ext cx="3657600" cy="306324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</a:tblGrid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TextRank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 zero-shot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 fine-tuned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PEGASUS zero-shot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mBART fine-tuned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(BART)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11480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*PEGASUS already CNN/DM-tuned by its authors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924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092440" y="173736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ROUGE-1/2/L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BERTScore-F1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 Factual Consistency Score (FCS)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fallback rate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latency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score &amp; dynamic threshold (new)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accuracy + Cohen's Kappa (planned)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Experimental Setup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PROGRESS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Status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55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2880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— load, clean, split, cache, corpus stats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baselines — Lead-3, TextRank, BART, PEGASUS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4-stage pipeline wired end-to-end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Difficulty-Aware Safety Switch implemented &amp; integrated (Stage 4)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script for BART &amp; mBART; evaluation harness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demo app with 4-stage evidence trace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17920" y="13258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Pending / In Progress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55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82880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○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studies A/B/C — pilot only (n=15); full-scale runs pending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○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Full-scale BART &amp; mBART fine-tuning on Colab T4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○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evaluation run (500+ samples) against EXPECTED_TARGETS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○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sweep &amp; difficulty-bin calibration for the safety switch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○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 — 50 samples, 3 raters, Cohen's Kappa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○"/>
            </a:pPr>
            <a:r>
              <a:rPr lang="en-US" sz="115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XL-Sum multilingual feasibility study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Status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PRELIMINARY 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Results (Pipeline vs. Baselines)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pilot/dev-run numbers (n=15 baselines, n=300 pipeline vs. PEGASUS) confirming correct end-to-end execution — not final dissertation results. Ablation studies (A/B/C) are pilot-only at n=15; full-scale runs are still pending.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64008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132320" y="1920240"/>
            <a:ext cx="4480560" cy="2606040"/>
          </a:xfrm>
          <a:prstGeom prst="roundRect">
            <a:avLst>
              <a:gd name="adj" fmla="val 2807"/>
            </a:avLst>
          </a:prstGeom>
          <a:solidFill>
            <a:srgbClr val="0B355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55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06640" y="2057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vs. PEGASUS (n = 300)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359152"/>
          <a:ext cx="3931920" cy="1828800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PEGASUS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ROUGE-2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BERTScore-F1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NLI-FCS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 rate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47091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ROUGE-2 for the pipeline trails PEGASUS because this run used a placeholder (not-yet-fully-fine-tuned) BART checkpoint — full-scale fine-tuning is expected to close the gap toward the ≥18.0 ROUGE-2 target. All dissertation objective targets (config.py EXPECTED_TARGETS) currently report PENDING via check_targets.py, as expected at this stage.</a:t>
            </a:r>
            <a:endParaRPr lang="en-US" sz="108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LIMITATIONS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Acknowledged Bias &amp; Limitations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297680"/>
        </p:xfrm>
        <a:graphic>
          <a:graphicData uri="http://schemas.openxmlformats.org/drawingml/2006/table">
            <a:tbl>
              <a:tblPr/>
              <a:tblGrid>
                <a:gridCol w="2834640"/>
                <a:gridCol w="5943600"/>
                <a:gridCol w="2286000"/>
              </a:tblGrid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Addressed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CNN/DailyMail dataset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Western, English, news-domain only — skews politics/crime/celebrity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§11.2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 extractive prior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Pre-trained to copy phrases — high ROUGE but not true abstraction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§6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PEGASUS lead-sentence bias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Gap-sentence pretraining biases toward first sentences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§7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mBART language imbalance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dominates 25-language pretraining; Hindi underrepresented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§11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512-token truncation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sees the second half of long articles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§5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Difficulty signals are heuristic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Length/entity/uncertainty are proxies, not learned — need correlation validation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Safety-switch plan §9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2,000-sample eval subset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±0.5 ROUGE variance during early stopping — accepted trade-off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C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§10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FUTURE PLAN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to End-Semester Viva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3657600"/>
            <a:ext cx="10835640" cy="0"/>
          </a:xfrm>
          <a:prstGeom prst="line">
            <a:avLst/>
          </a:prstGeom>
          <a:noFill/>
          <a:ln w="25400">
            <a:solidFill>
              <a:srgbClr val="D7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13470" y="3511296"/>
            <a:ext cx="292608" cy="29260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6" name="Text 4"/>
          <p:cNvSpPr/>
          <p:nvPr/>
        </p:nvSpPr>
        <p:spPr>
          <a:xfrm>
            <a:off x="1313470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Full-scale fine-tuning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 &amp; mBART on Colab T4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59774" y="3511296"/>
            <a:ext cx="0" cy="146304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61419" y="351129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861419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07723" y="3803904"/>
            <a:ext cx="0" cy="146304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79469" y="3950208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evaluation run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79469" y="4498848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samples · check_targets.py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09367" y="351129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409367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27417" y="2286000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Ablations at scale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27417" y="2834640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retrieval · B: N · C: verifier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55671" y="3511296"/>
            <a:ext cx="0" cy="146304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57316" y="351129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957316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03620" y="3803904"/>
            <a:ext cx="0" cy="146304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75366" y="3950208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Safety-switch calibration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75366" y="4498848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sweep · difficulty-bin analysis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505265" y="351129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7505265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23314" y="2286000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23314" y="2834640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samples · 3 raters · Kappa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651569" y="3511296"/>
            <a:ext cx="0" cy="146304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53213" y="351129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9053213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199517" y="3803904"/>
            <a:ext cx="0" cy="146304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71263" y="3950208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feasibility study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71263" y="4498848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mBART + XL-Sum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0601162" y="351129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1060116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019211" y="2286000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write-up &amp; demo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9211" y="2834640"/>
            <a:ext cx="14565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5–14 · Streamlit app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0747466" y="3511296"/>
            <a:ext cx="0" cy="146304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End-Semester Viva will show: full-scale results against all objective targets, complete ablation tables, calibrated safety-switch, human-evaluation agreement, and a live Streamlit demo.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Plan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120640"/>
            <a:ext cx="1463040" cy="1463040"/>
          </a:xfrm>
          <a:prstGeom prst="ellipse">
            <a:avLst/>
          </a:prstGeom>
          <a:solidFill>
            <a:srgbClr val="1C7293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554480" y="5120640"/>
            <a:ext cx="1463040" cy="1463040"/>
          </a:xfrm>
          <a:prstGeom prst="ellipse">
            <a:avLst/>
          </a:prstGeom>
          <a:solidFill>
            <a:srgbClr val="5FA8C2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94560" y="5120640"/>
            <a:ext cx="1463040" cy="1463040"/>
          </a:xfrm>
          <a:prstGeom prst="ellipse">
            <a:avLst/>
          </a:prstGeom>
          <a:solidFill>
            <a:srgbClr val="E8871E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5120640"/>
            <a:ext cx="1463040" cy="1463040"/>
          </a:xfrm>
          <a:prstGeom prst="ellipse">
            <a:avLst/>
          </a:prstGeom>
          <a:solidFill>
            <a:srgbClr val="8FD3C7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75504" y="3977640"/>
            <a:ext cx="1828800" cy="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160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Puthineedi Venkata Sai Charan  |  2024AA05606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44622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C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AIML, BITS Pilani WILP  ·  AIMLCZG628T Dissertation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Two-Stage Summarisation Pipeline — Mid-Semester Viva</dc:title>
  <dc:subject>PptxGenJS Presentation</dc:subject>
  <dc:creator>Puthineedi Venkata Sai Charan</dc:creator>
  <cp:lastModifiedBy>Puthineedi Venkata Sai Charan</cp:lastModifiedBy>
  <cp:revision>1</cp:revision>
  <dcterms:created xsi:type="dcterms:W3CDTF">2026-07-03T03:44:39Z</dcterms:created>
  <dcterms:modified xsi:type="dcterms:W3CDTF">2026-07-03T03:44:39Z</dcterms:modified>
</cp:coreProperties>
</file>