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55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3550"/>
                </a:solidFill>
                <a:latin typeface="Arial"/>
              </a:rPr>
              <a:t>ROUGE-2 by System (pilot)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35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Lead-3</c:v>
                </c:pt>
                <c:pt idx="1">
                  <c:v>TextRank</c:v>
                </c:pt>
                <c:pt idx="2">
                  <c:v>BART
zero-shot</c:v>
                </c:pt>
                <c:pt idx="3">
                  <c:v>BART
fine-tuned</c:v>
                </c:pt>
                <c:pt idx="4">
                  <c:v>Pipeline
(proposed)</c:v>
                </c:pt>
                <c:pt idx="5">
                  <c:v>PEGASUS
zero-shot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23.47</c:v>
                </c:pt>
                <c:pt idx="1">
                  <c:v>12.28</c:v>
                </c:pt>
                <c:pt idx="2">
                  <c:v>21.21</c:v>
                </c:pt>
                <c:pt idx="3">
                  <c:v>26.62</c:v>
                </c:pt>
                <c:pt idx="4">
                  <c:v>10.1</c:v>
                </c:pt>
                <c:pt idx="5">
                  <c:v>14.74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4-46A6-B7AC-86A53C7258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55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3550"/>
                </a:solidFill>
                <a:latin typeface="Arial"/>
              </a:rPr>
              <a:t>ROUGE-2 by System (pilot)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35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Lead-3</c:v>
                </c:pt>
                <c:pt idx="1">
                  <c:v>TextRank</c:v>
                </c:pt>
                <c:pt idx="2">
                  <c:v>BART
zero-shot</c:v>
                </c:pt>
                <c:pt idx="3">
                  <c:v>BART
fine-tuned</c:v>
                </c:pt>
                <c:pt idx="4">
                  <c:v>Pipeline
(proposed)</c:v>
                </c:pt>
                <c:pt idx="5">
                  <c:v>PEGASUS
zero-shot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23.47</c:v>
                </c:pt>
                <c:pt idx="1">
                  <c:v>12.28</c:v>
                </c:pt>
                <c:pt idx="2">
                  <c:v>21.21</c:v>
                </c:pt>
                <c:pt idx="3">
                  <c:v>26.62</c:v>
                </c:pt>
                <c:pt idx="4">
                  <c:v>19.100000000000001</c:v>
                </c:pt>
                <c:pt idx="5">
                  <c:v>14.74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6-40DB-8E16-985BE0203C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65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2377440" cy="23774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32520" y="1280160"/>
            <a:ext cx="2377440" cy="2377440"/>
          </a:xfrm>
          <a:prstGeom prst="ellipse">
            <a:avLst/>
          </a:prstGeom>
          <a:solidFill>
            <a:srgbClr val="5FA8C2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01200" y="822960"/>
            <a:ext cx="2377440" cy="2377440"/>
          </a:xfrm>
          <a:prstGeom prst="ellipse">
            <a:avLst/>
          </a:prstGeom>
          <a:solidFill>
            <a:srgbClr val="E8871E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469880" y="1280160"/>
            <a:ext cx="2377440" cy="2377440"/>
          </a:xfrm>
          <a:prstGeom prst="ellipse">
            <a:avLst/>
          </a:prstGeom>
          <a:solidFill>
            <a:srgbClr val="8FD3C7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AIMLCZG628T  ·  DISSERTATION  ·  MID-SEMESTER VIVA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Two-Stage Summarisation Pipeline for News Articles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Extraction-Guided Abstractive Generation with a Difficulty-Aware Safety Switch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38404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Puthineedi Venkata Sai Charan   |   2024AA05606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36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4636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in Artificial Intelligence &amp; Machine Learning, BITS Pilani WILP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0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50200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Veeraswamy Ponnuru — Lead QA Engineer, Opentext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508760" y="19796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68833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91640" y="268833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508760" y="315925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867912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91640" y="3867912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4-Stage Pipeline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08760" y="433882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504748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91640" y="504748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Difficulty-Aware Safety Switch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508760" y="551840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150876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360920" y="1508760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Experimental Setup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78040" y="19796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17920" y="268833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268833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360920" y="268833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178040" y="315925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17920" y="38679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3867912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360920" y="3867912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178040" y="433882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217920" y="504748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46520" y="504748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360920" y="504748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Risks &amp; Future Plan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7178040" y="551840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Viva — Agenda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summarisation has two dominant paradigms, each with a critical shortcoming — and modern pretrained transformers inherit both a truncation problem and a verification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2296" cy="1600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sentences verbatim. Factually safe, but disjointed — can't paraphrase or compress across sentences.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82296" cy="160020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fluent, novel text (BART, PEGASUS). Reads naturally, but can hallucinate facts unsupported by the source.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fine-tuned transformers (BART, PEGASUS) emit one hypothesis with: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check that claims are supported by the source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confidence-based fallback when generation is risky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threshold, ignoring that articles vary in difficulty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903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3913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Problem Statement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news article, produce a summary that is (a) fluent and abstractive, and (b) verifiably grounded in the source — with a reliability mechanism that adapts its strictness to how difficult the article is to summarise, and a guaranteed fallback when confidence is insufficient.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 &amp; Research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 (Mihalcea &amp; Tarau, 2004) — graph centrality. SummaRuNNer (Nallapati et al., 2017) — salience scoring. BertSum (Liu &amp; Lapata, 2019) — transformer extractive SOTA.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2976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 &amp; Pretrained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Pointer-Generator (See et al., 2017) — copy + coverage. BART (Lewis et al., 2020) &amp; PEGASUS (Zhang et al., 2020) dominate CNN/DM but truncate input and never verify claims against source.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80467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Factuality Metrics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→ BERTScore → SummaC/NLI-FCS (Laban et al., 2022). ACL 2026 stress-test: NLI metrics remain reliable for short documents like CNN/DM — supports our Stage-3 verifier.</a:t>
            </a:r>
            <a:endParaRPr lang="en-US" sz="10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1965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 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 / TextRank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/ PEGASUS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SummaC-style eval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Dissertation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BM25+embed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NLI FCS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(difficulty-aware)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prior work unifies retrieval, verification, and a guaranteed fallback — and none adapt fallback strictness to per-article difficulty.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PROPOSED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213055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0B3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213055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98548" y="15270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9854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pipeline/retrieval.py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4787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02336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33188" y="1527048"/>
            <a:ext cx="512064" cy="512064"/>
          </a:xfrm>
          <a:prstGeom prst="ellipse">
            <a:avLst/>
          </a:prstGeom>
          <a:solidFill>
            <a:srgbClr val="5FA8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318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pipeline/generator.py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8251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5800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767828" y="1527048"/>
            <a:ext cx="512064" cy="51206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6782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pipeline/verifier.py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21715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602468" y="1527048"/>
            <a:ext cx="512064" cy="512064"/>
          </a:xfrm>
          <a:prstGeom prst="ellipse">
            <a:avLst/>
          </a:prstGeom>
          <a:solidFill>
            <a:srgbClr val="8FBF6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60246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8408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pipeline/reranker.py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545568" y="2130552"/>
            <a:ext cx="868680" cy="731520"/>
          </a:xfrm>
          <a:prstGeom prst="roundRect">
            <a:avLst>
              <a:gd name="adj" fmla="val 75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2545568" y="213055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3648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0.5×BM25 + 0.5×embedding (MiniLM); top-K=8 within 512-token budget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78808"/>
            <a:ext cx="320040" cy="320040"/>
          </a:xfrm>
          <a:prstGeom prst="ellipse">
            <a:avLst/>
          </a:prstGeom>
          <a:solidFill>
            <a:srgbClr val="5FA8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1239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BART-large-cnn; Best-of-N=5, nucleus sampling top_p=0.92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54296"/>
            <a:ext cx="320040" cy="3200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654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599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cross-encoder; sentence-level entailment → FCS score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29784"/>
            <a:ext cx="320040" cy="320040"/>
          </a:xfrm>
          <a:prstGeom prst="ellipse">
            <a:avLst/>
          </a:prstGeom>
          <a:solidFill>
            <a:srgbClr val="8FBF6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5129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5074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0.6×FCS + 0.4×BERTScore; fallback if best FCS &lt; dynamic threshold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Best-of-N reranking is a training-free, inference-time approximation of RLHF — optimising for factual consistency and fluency without a trained reward model.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NOVELTY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Difficulty-Aware Safety Switch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FCS threshold (0.40) assumes every article is equally hard to summarise. It isn't — a dense, entity-heavy article is riskier than a short, simple one. This dissertation replaces the fixed threshold with one that adapts to per-article difficulty.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Score D  ∈ [0,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pipeline/difficulty.py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227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count, normalised 150–900 words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density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capitalised/numeric tokens per 100 words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1056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105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uncertainty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3616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top-2 evidence score margin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690872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82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0.4·LengthNorm + 0.3·EntityNorm + 0.3·UncertaintyNorm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5623560" cy="3383280"/>
          </a:xfrm>
          <a:prstGeom prst="roundRect">
            <a:avLst>
              <a:gd name="adj" fmla="val 2254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2267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Threshold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BaseThreshold + α × 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BaseThreshold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0976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976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threshold cap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article → threshold ≈ 0.40 (normal abstractive behaviour). Hard article → threshold up to 0.60 (stricter — more likely to fall back to the safe extractive summary).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074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 abstractive summary if best-candidate FCS ≥ Threshold_dynamic, else extractive fallback.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fully implemented and wired into Stage 4 (pipeline/pipeline.py → reranker.py). Pilot runs show mean difficulty ≈ 0.78 and mean dynamic threshold ≈ 0.555 across ablation samples — full-scale calibration (α sweep, difficulty-bin analysis) is in progress.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Difficulty-Aware Safety Switch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&amp;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CNN/DailyMail 3.0.0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abisee/cnn_dailymail (HF)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287,113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articles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13,368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articles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11,490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articles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(CNN)/byline removal, sentence tokenisation, seed-42 subsample (20,000 train), cached to data/cache/.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Compared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07923"/>
              </p:ext>
            </p:extLst>
          </p:nvPr>
        </p:nvGraphicFramePr>
        <p:xfrm>
          <a:off x="4114800" y="1691640"/>
          <a:ext cx="3657600" cy="3063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zero-shot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fine-tuned on CNN/</a:t>
                      </a:r>
                      <a:r>
                        <a:rPr lang="en-US" sz="1000" dirty="0" err="1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 zero-shot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mBART fine-tuned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(BART)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11480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*PEGASUS already CNN/DM-tuned by its authors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924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92440" y="17373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ROUGE-1/2/L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BERTScore-F1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Factual Consistency Score (FCS)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fallback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score &amp; dynamic threshold (new)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accuracy + Cohen's Kappa (planned)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Experimental Setup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load, clean, split, cache, corpus stats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baselines — Lead-3, TextRank, BART, PEGASUS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4-stage pipeline wired end-to-end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Safety Switch implemented &amp; integrated (Stage 4)</a:t>
            </a:r>
            <a:r>
              <a:rPr lang="en-US" sz="1150" dirty="0"/>
              <a:t> </a:t>
            </a:r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 err="1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app with 4-stage evidence trace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/ In Progress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A/B/C — pilot only (n=15); full-scale runs pending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run (300+ samples) against EXPECTED_TARGETS</a:t>
            </a:r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50 samples, 3 raters, Cohen's Kappa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XL-Sum multilingual feasibility study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PRELIMINARY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Results (Pipeline vs. Baselines)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pilot/dev-run numbers (n=15 baselines, n=300 pipeline vs. PEGASUS) confirming correct end-to-end execution — not final dissertation results. Ablation studies (A/B/C) are pilot-only at n=15; full-scale runs are still pending.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6400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920240"/>
            <a:ext cx="4480560" cy="2606040"/>
          </a:xfrm>
          <a:prstGeom prst="roundRect">
            <a:avLst>
              <a:gd name="adj" fmla="val 2807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355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40664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vs. PEGASUS (n = 300)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1458"/>
              </p:ext>
            </p:extLst>
          </p:nvPr>
        </p:nvGraphicFramePr>
        <p:xfrm>
          <a:off x="7406640" y="2359152"/>
          <a:ext cx="393192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BERTScore-F1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NLI-FCS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709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ROUGE-2 for the pipeline trails PEGASUS because this run used a placeholder (not-yet-fully-fine-tuned) BART checkpoint — full-scale fine-tuning is expected to close the gap toward the ≥18.0 ROUGE-2 target. All dissertation objective targets (config.py EXPECTED_TARGETS) currently report PENDING via check_targets.py, as expected at this stage.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B5354255-BAAC-C538-7C38-FE94CF81C7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7270569"/>
              </p:ext>
            </p:extLst>
          </p:nvPr>
        </p:nvGraphicFramePr>
        <p:xfrm>
          <a:off x="701040" y="2011680"/>
          <a:ext cx="64008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Acknowledged Bias &amp; Limitations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44719"/>
              </p:ext>
            </p:extLst>
          </p:nvPr>
        </p:nvGraphicFramePr>
        <p:xfrm>
          <a:off x="548640" y="1417320"/>
          <a:ext cx="11064240" cy="376047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Where Addressed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CNN/DailyMail dataset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Western, English, news-domain only — skews politics/crime/celebrity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§11.2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extractive prior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to copy phrases — high ROUGE but not true abstraction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 lead-sentence bias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Gap-sentence pretraining biases toward first sentences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mBART language imbalance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dominates 25-language pretraining; Hindi underrepresented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512-token truncation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sees the second half of long articles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§5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signals are heuristic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Length/entity/uncertainty are proxies, not learned — need correlation validation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Safety-switch plan §9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FUTURE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End-Semester Viva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3657600"/>
            <a:ext cx="10835640" cy="0"/>
          </a:xfrm>
          <a:prstGeom prst="line">
            <a:avLst/>
          </a:prstGeom>
          <a:noFill/>
          <a:ln w="254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13470" y="3511296"/>
            <a:ext cx="292608" cy="292608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1347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fine-tuning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&amp; mBART on Colab T4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9774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61419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61419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07723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79469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79469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samples · check_targets.py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09367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09367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7417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at 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27417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retrieval · B: N · C: verifier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55671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57316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57316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03620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75366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Safety-switch calibration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75366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sweep · difficulty-bin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05265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05265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3314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3314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· 3 raters · Kappa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51569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053213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53213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99517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471263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feasibility study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71263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mBART + XL-Sum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601162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60116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19211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write-up &amp; demo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9211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5–14 · Streamlit app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747466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End-Semester Viva will show: full-scale results against all objective targets, complete ablation tables, calibrated safety-switch, human-evaluation agreement, and a live Streamlit demo.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463040" cy="146304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554480" y="5120640"/>
            <a:ext cx="1463040" cy="1463040"/>
          </a:xfrm>
          <a:prstGeom prst="ellipse">
            <a:avLst/>
          </a:prstGeom>
          <a:solidFill>
            <a:srgbClr val="5FA8C2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194560" y="5120640"/>
            <a:ext cx="1463040" cy="1463040"/>
          </a:xfrm>
          <a:prstGeom prst="ellipse">
            <a:avLst/>
          </a:prstGeom>
          <a:solidFill>
            <a:srgbClr val="E8871E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834640" y="5120640"/>
            <a:ext cx="1463040" cy="1463040"/>
          </a:xfrm>
          <a:prstGeom prst="ellipse">
            <a:avLst/>
          </a:prstGeom>
          <a:solidFill>
            <a:srgbClr val="8FD3C7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5504" y="3977640"/>
            <a:ext cx="182880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Puthineedi Venkata Sai Charan  |  2024AA05606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4622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AIML, BITS Pilani WILP  ·  AIMLCZG628T Dissertation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1501</Words>
  <Application>Microsoft Office PowerPoint</Application>
  <PresentationFormat>Widescreen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Two-Stage Summarisation Pipeline — Mid-Semester Viva</dc:title>
  <dc:subject>PptxGenJS Presentation</dc:subject>
  <dc:creator>Puthineedi Venkata Sai Charan</dc:creator>
  <cp:lastModifiedBy>PUTHINEEDI VENKATA SAI CHARAN .</cp:lastModifiedBy>
  <cp:revision>4</cp:revision>
  <dcterms:created xsi:type="dcterms:W3CDTF">2026-07-03T03:44:39Z</dcterms:created>
  <dcterms:modified xsi:type="dcterms:W3CDTF">2026-07-03T04:58:12Z</dcterms:modified>
</cp:coreProperties>
</file>